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a49e3d074740a2" /><Relationship Type="http://schemas.openxmlformats.org/officeDocument/2006/relationships/extended-properties" Target="/docProps/app.xml" Id="Rdfc1bfe5df0649e5" /><Relationship Type="http://schemas.openxmlformats.org/officeDocument/2006/relationships/officeDocument" Target="/ppt/presentation.xml" Id="R163421afbf4346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2bb3872df84c98"/>
  </p:sldMasterIdLst>
  <p:notesMasterIdLst>
    <p:notesMasterId xmlns:r="http://schemas.openxmlformats.org/officeDocument/2006/relationships" r:id="R07741d79bb7247d4"/>
  </p:notesMasterIdLst>
  <p:sldIdLst>
    <p:sldId xmlns:r="http://schemas.openxmlformats.org/officeDocument/2006/relationships" id="256" r:id="R73b3169fd896422c"/>
    <p:sldId xmlns:r="http://schemas.openxmlformats.org/officeDocument/2006/relationships" id="257" r:id="R0495608e83544d9f"/>
    <p:sldId xmlns:r="http://schemas.openxmlformats.org/officeDocument/2006/relationships" id="258" r:id="Ra338c36a9d4346be"/>
    <p:sldId xmlns:r="http://schemas.openxmlformats.org/officeDocument/2006/relationships" id="259" r:id="Ra8253adc5e8c4804"/>
    <p:sldId xmlns:r="http://schemas.openxmlformats.org/officeDocument/2006/relationships" id="260" r:id="R544a5f9f312f4c55"/>
    <p:sldId xmlns:r="http://schemas.openxmlformats.org/officeDocument/2006/relationships" id="261" r:id="Re22d622a7f59470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16034ca2714ecf" /><Relationship Type="http://schemas.openxmlformats.org/officeDocument/2006/relationships/slideMaster" Target="/ppt/slideMasters/slideMaster1.xml" Id="R7f2bb3872df84c98" /><Relationship Type="http://schemas.openxmlformats.org/officeDocument/2006/relationships/notesMaster" Target="/ppt/notesMasters/notesMaster1.xml" Id="R07741d79bb7247d4" /><Relationship Type="http://schemas.openxmlformats.org/officeDocument/2006/relationships/presProps" Target="/ppt/presProps.xml" Id="R01266209f03c41dc" /><Relationship Type="http://schemas.openxmlformats.org/officeDocument/2006/relationships/tableStyles" Target="/ppt/tableStyles.xml" Id="Re41297800ffb41f2" /><Relationship Type="http://schemas.openxmlformats.org/officeDocument/2006/relationships/slide" Target="/ppt/slides/slide1.xml" Id="R73b3169fd896422c" /><Relationship Type="http://schemas.openxmlformats.org/officeDocument/2006/relationships/slide" Target="/ppt/slides/slide2.xml" Id="R0495608e83544d9f" /><Relationship Type="http://schemas.openxmlformats.org/officeDocument/2006/relationships/slide" Target="/ppt/slides/slide3.xml" Id="Ra338c36a9d4346be" /><Relationship Type="http://schemas.openxmlformats.org/officeDocument/2006/relationships/slide" Target="/ppt/slides/slide4.xml" Id="Ra8253adc5e8c4804" /><Relationship Type="http://schemas.openxmlformats.org/officeDocument/2006/relationships/slide" Target="/ppt/slides/slide5.xml" Id="R544a5f9f312f4c55" /><Relationship Type="http://schemas.openxmlformats.org/officeDocument/2006/relationships/slide" Target="/ppt/slides/slide6.xml" Id="Re22d622a7f5947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eeca5dc43f40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a533db7e974b74" /><Relationship Type="http://schemas.openxmlformats.org/officeDocument/2006/relationships/notesMaster" Target="/ppt/notesMasters/notesMaster1.xml" Id="R3295305367cc4e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abaf28aa594d65" /><Relationship Type="http://schemas.openxmlformats.org/officeDocument/2006/relationships/notesMaster" Target="/ppt/notesMasters/notesMaster1.xml" Id="R18dea0b5e5c04c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adc2283b614efe" /><Relationship Type="http://schemas.openxmlformats.org/officeDocument/2006/relationships/notesMaster" Target="/ppt/notesMasters/notesMaster1.xml" Id="R2caccc8c247346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9199fd2065412e" /><Relationship Type="http://schemas.openxmlformats.org/officeDocument/2006/relationships/notesMaster" Target="/ppt/notesMasters/notesMaster1.xml" Id="R0d6d6ff7867548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d371f6f46b441c" /><Relationship Type="http://schemas.openxmlformats.org/officeDocument/2006/relationships/notesMaster" Target="/ppt/notesMasters/notesMaster1.xml" Id="R33310a5dee554a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71f0b8bcab469b" /><Relationship Type="http://schemas.openxmlformats.org/officeDocument/2006/relationships/notesMaster" Target="/ppt/notesMasters/notesMaster1.xml" Id="Raf8247674dbb4c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2877c23f8342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a39a9af96842ba" /><Relationship Type="http://schemas.openxmlformats.org/officeDocument/2006/relationships/slideLayout" Target="/ppt/slideLayouts/slideLayout1.xml" Id="Rd63ceb40c8be40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3ceb40c8be40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a9458bdca4541" /><Relationship Type="http://schemas.openxmlformats.org/officeDocument/2006/relationships/image" Target="/ppt/media/image.jpeg" Id="R444d6c851f7b4408" /><Relationship Type="http://schemas.openxmlformats.org/officeDocument/2006/relationships/notesSlide" Target="/ppt/notesSlides/notesSlide1.xml" Id="Rb4f2c438972e4d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03b5a5a7f4564" /><Relationship Type="http://schemas.openxmlformats.org/officeDocument/2006/relationships/notesSlide" Target="/ppt/notesSlides/notesSlide2.xml" Id="R42d99baa40154e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df4bddb424d79" /><Relationship Type="http://schemas.openxmlformats.org/officeDocument/2006/relationships/notesSlide" Target="/ppt/notesSlides/notesSlide3.xml" Id="Rc1c17ef918b442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bc9a0c2b544b9" /><Relationship Type="http://schemas.openxmlformats.org/officeDocument/2006/relationships/notesSlide" Target="/ppt/notesSlides/notesSlide4.xml" Id="R031de4ac9d3146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ee2b9b9374968" /><Relationship Type="http://schemas.openxmlformats.org/officeDocument/2006/relationships/notesSlide" Target="/ppt/notesSlides/notesSlide5.xml" Id="R6dcaaf6eef9543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8882c329044a3" /><Relationship Type="http://schemas.openxmlformats.org/officeDocument/2006/relationships/notesSlide" Target="/ppt/notesSlides/notesSlide6.xml" Id="R08c5f69742db4e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image-field">
            <a:extLst xmlns:a="http://schemas.openxmlformats.org/drawingml/2006/main">
              <a:ext uri="{FF2B5EF4-FFF2-40B4-BE49-F238E27FC236}">
                <a16:creationId xmlns:a16="http://schemas.microsoft.com/office/drawing/2014/main" id="{33E65D04-32B0-4DEC-BC5E-B328F091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F6F3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FA01BCFE-723C-4A6D-ABE5-44779266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0525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050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EXECUTIVE BRIEFING  ·  14 JULY 2026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6F3FE13-78A0-4556-9E8F-58D7EF4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895350"/>
            <a:ext cx="5334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Global AI policy:
preserve launch options</a:t>
            </a:r>
          </a:p>
        </p:txBody>
      </p:sp>
      <p:sp>
        <p:nvSpPr>
          <p:cNvPr id="4" name="cover-accent-rule">
            <a:extLst xmlns:a="http://schemas.openxmlformats.org/drawingml/2006/main">
              <a:ext uri="{FF2B5EF4-FFF2-40B4-BE49-F238E27FC236}">
                <a16:creationId xmlns:a16="http://schemas.microsoft.com/office/drawing/2014/main" id="{B8CFA134-53C3-49B6-92DC-6319E2C9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52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body">
            <a:extLst xmlns:a="http://schemas.openxmlformats.org/drawingml/2006/main">
              <a:ext uri="{FF2B5EF4-FFF2-40B4-BE49-F238E27FC236}">
                <a16:creationId xmlns:a16="http://schemas.microsoft.com/office/drawing/2014/main" id="{F3FA3875-CBEB-481A-990E-6090E85A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05100"/>
            <a:ext cx="5305425" cy="25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57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Decision for leadership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  <a:defRPr sz="157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Fund the shared control layer and a 30-day cross-functional review rhythm. Hold universal launch approval until product-market evidence is complete.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57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Independent portfolio work sample · not legal advice · no company affiliation</a:t>
            </a:r>
          </a:p>
        </p:txBody>
      </p:sp>
      <p:sp>
        <p:nvSpPr>
          <p:cNvPr id="6" name="cover-visual-label">
            <a:extLst xmlns:a="http://schemas.openxmlformats.org/drawingml/2006/main">
              <a:ext uri="{FF2B5EF4-FFF2-40B4-BE49-F238E27FC236}">
                <a16:creationId xmlns:a16="http://schemas.microsoft.com/office/drawing/2014/main" id="{1EDFFD38-EA62-4020-9B5E-4D69FBF4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23900"/>
            <a:ext cx="485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013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POLICY → PRODUCT → EVIDENCE</a:t>
            </a:r>
          </a:p>
        </p:txBody>
      </p:sp>
      <p:sp>
        <p:nvSpPr>
          <p:cNvPr id="7" name="cover-visual-caption">
            <a:extLst xmlns:a="http://schemas.openxmlformats.org/drawingml/2006/main">
              <a:ext uri="{FF2B5EF4-FFF2-40B4-BE49-F238E27FC236}">
                <a16:creationId xmlns:a16="http://schemas.microsoft.com/office/drawing/2014/main" id="{6B5842CE-01AD-4AC3-99E4-531B9865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19625"/>
            <a:ext cx="490537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A source-traceable work sample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Official-source monitoring, market implications, control mapping, and explicit evidence gates.</a:t>
            </a:r>
          </a:p>
        </p:txBody>
      </p:sp>
      <p:sp>
        <p:nvSpPr>
          <p:cNvPr id="8" name="cover-page">
            <a:extLst xmlns:a="http://schemas.openxmlformats.org/drawingml/2006/main">
              <a:ext uri="{FF2B5EF4-FFF2-40B4-BE49-F238E27FC236}">
                <a16:creationId xmlns:a16="http://schemas.microsoft.com/office/drawing/2014/main" id="{1EA2B36F-630C-47D1-9EDD-9CD420ED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d6c851f7b4408"/>
          <a:stretch xmlns:a="http://schemas.openxmlformats.org/drawingml/2006/main"/>
        </p:blipFill>
        <p:spPr>
          <a:xfrm xmlns:a="http://schemas.openxmlformats.org/drawingml/2006/main">
            <a:off x="6457950" y="1319808"/>
            <a:ext cx="5162550" cy="2903934"/>
          </a:xfrm>
          <a:prstGeom xmlns:a="http://schemas.openxmlformats.org/drawingml/2006/main" prst="roundRect">
            <a:avLst>
              <a:gd name="adj" fmla="val 1840"/>
            </a:avLst>
          </a:prstGeom>
        </p:spPr>
      </p:pic>
    </p:spTree>
    <p:extLst>
      <p:ext uri="{BB962C8B-B14F-4D97-AF65-F5344CB8AC3E}">
        <p14:creationId xmlns:p14="http://schemas.microsoft.com/office/powerpoint/2010/main" val="2878864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title">
            <a:extLst xmlns:a="http://schemas.openxmlformats.org/drawingml/2006/main">
              <a:ext uri="{FF2B5EF4-FFF2-40B4-BE49-F238E27FC236}">
                <a16:creationId xmlns:a16="http://schemas.microsoft.com/office/drawing/2014/main" id="{BADF03A6-5485-44E9-B209-A429021A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Policy is accelerating capacity—and accountability</a:t>
            </a:r>
          </a:p>
        </p:txBody>
      </p:sp>
      <p:sp>
        <p:nvSpPr>
          <p:cNvPr id="2" name="s2-title-rule">
            <a:extLst xmlns:a="http://schemas.openxmlformats.org/drawingml/2006/main">
              <a:ext uri="{FF2B5EF4-FFF2-40B4-BE49-F238E27FC236}">
                <a16:creationId xmlns:a16="http://schemas.microsoft.com/office/drawing/2014/main" id="{71EF025C-F6E3-44CC-AD8D-1510B9A2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9620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2-intro">
            <a:extLst xmlns:a="http://schemas.openxmlformats.org/drawingml/2006/main">
              <a:ext uri="{FF2B5EF4-FFF2-40B4-BE49-F238E27FC236}">
                <a16:creationId xmlns:a16="http://schemas.microsoft.com/office/drawing/2014/main" id="{F1A77BCA-83C7-4357-B02C-C064EC72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200150"/>
            <a:ext cx="11404568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The executive tension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Infrastructure policy can widen capacity and commercial routes while standards and governance raise expectations for identity, disclosure, human accountability, and redress. Treat both as one operating problem.</a:t>
            </a:r>
          </a:p>
        </p:txBody>
      </p:sp>
      <p:sp>
        <p:nvSpPr>
          <p:cNvPr id="4" name="s2-left-card">
            <a:extLst xmlns:a="http://schemas.openxmlformats.org/drawingml/2006/main">
              <a:ext uri="{FF2B5EF4-FFF2-40B4-BE49-F238E27FC236}">
                <a16:creationId xmlns:a16="http://schemas.microsoft.com/office/drawing/2014/main" id="{09127079-EA47-443F-9A19-89D03B42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048000"/>
            <a:ext cx="553393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7DFF3"/>
            </a:solidFill>
            <a:prstDash val="solid"/>
          </a:ln>
        </p:spPr>
      </p:sp>
      <p:sp>
        <p:nvSpPr>
          <p:cNvPr id="5" name="s2-left-card-text">
            <a:extLst xmlns:a="http://schemas.openxmlformats.org/drawingml/2006/main">
              <a:ext uri="{FF2B5EF4-FFF2-40B4-BE49-F238E27FC236}">
                <a16:creationId xmlns:a16="http://schemas.microsoft.com/office/drawing/2014/main" id="{4334D6EC-CA4F-43BA-892D-25A08FE3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238500"/>
            <a:ext cx="4986909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CAPACITY + MARKET ACCESS</a:t>
            </a:r>
          </a:p>
          <a:p xmlns:a="http://schemas.openxmlformats.org/drawingml/2006/main">
            <a:pPr algn="l">
              <a:lnSpc>
                <a:spcPct val="106000"/>
              </a:lnSpc>
              <a:spcAft>
                <a:spcPts val="0"/>
              </a:spcAft>
              <a:buNone/>
              <a:defRPr sz="16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Faster buildout and proposed EU cloud expansion can widen supply, partnerships, and public-sector routes.</a:t>
            </a:r>
          </a:p>
        </p:txBody>
      </p:sp>
      <p:sp>
        <p:nvSpPr>
          <p:cNvPr id="6" name="s2-left-details">
            <a:extLst xmlns:a="http://schemas.openxmlformats.org/drawingml/2006/main">
              <a:ext uri="{FF2B5EF4-FFF2-40B4-BE49-F238E27FC236}">
                <a16:creationId xmlns:a16="http://schemas.microsoft.com/office/drawing/2014/main" id="{4BF03F04-ED7E-4045-9AB7-B5AA90FC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648200"/>
            <a:ext cx="504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00"/>
              </a:spcAft>
              <a:buNone/>
              <a:def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US · expedited qualifying data-center permitting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EU · CADA capacity, sustainability, sovereignty</a:t>
            </a:r>
          </a:p>
        </p:txBody>
      </p:sp>
      <p:sp>
        <p:nvSpPr>
          <p:cNvPr id="7" name="s2-right-card">
            <a:extLst xmlns:a="http://schemas.openxmlformats.org/drawingml/2006/main">
              <a:ext uri="{FF2B5EF4-FFF2-40B4-BE49-F238E27FC236}">
                <a16:creationId xmlns:a16="http://schemas.microsoft.com/office/drawing/2014/main" id="{6225DCEE-0193-452B-9FE7-177410E4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048000"/>
            <a:ext cx="553393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s2-right-card-text">
            <a:extLst xmlns:a="http://schemas.openxmlformats.org/drawingml/2006/main">
              <a:ext uri="{FF2B5EF4-FFF2-40B4-BE49-F238E27FC236}">
                <a16:creationId xmlns:a16="http://schemas.microsoft.com/office/drawing/2014/main" id="{D38E6548-3AD1-4684-A508-7994D95B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238500"/>
            <a:ext cx="4986909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ACCOUNTABILITY + TRUST</a:t>
            </a:r>
          </a:p>
          <a:p xmlns:a="http://schemas.openxmlformats.org/drawingml/2006/main">
            <a:pPr algn="l">
              <a:lnSpc>
                <a:spcPct val="106000"/>
              </a:lnSpc>
              <a:spcAft>
                <a:spcPts val="0"/>
              </a:spcAft>
              <a:buNone/>
              <a:defRPr sz="16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Agent identity, authorization, disclosure, and redress are becoming policy and standards questions.</a:t>
            </a:r>
          </a:p>
        </p:txBody>
      </p:sp>
      <p:sp>
        <p:nvSpPr>
          <p:cNvPr id="9" name="s2-right-details">
            <a:extLst xmlns:a="http://schemas.openxmlformats.org/drawingml/2006/main">
              <a:ext uri="{FF2B5EF4-FFF2-40B4-BE49-F238E27FC236}">
                <a16:creationId xmlns:a16="http://schemas.microsoft.com/office/drawing/2014/main" id="{AF85EF52-471F-4A12-9194-5E088AFF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648200"/>
            <a:ext cx="504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00"/>
              </a:spcAft>
              <a:buNone/>
              <a:def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NIST · secure identity, authorization, interoperability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EU + IMDA · transparency and bounded agency</a:t>
            </a:r>
          </a:p>
        </p:txBody>
      </p:sp>
      <p:sp>
        <p:nvSpPr>
          <p:cNvPr id="10" name="s2-source">
            <a:extLst xmlns:a="http://schemas.openxmlformats.org/drawingml/2006/main">
              <a:ext uri="{FF2B5EF4-FFF2-40B4-BE49-F238E27FC236}">
                <a16:creationId xmlns:a16="http://schemas.microsoft.com/office/drawing/2014/main" id="{9890CA34-9226-414B-A51C-C5F01F83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000750"/>
            <a:ext cx="10620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  <a:defRPr sz="713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13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Official sources: White House EO 14318; European Commission CADA proposal; NIST AI Agent Standards Initiative; European Commission Article 50 code; IMDA Model AI Governance Framework for Agentic AI. Checked 14 Jul 2026.</a:t>
            </a:r>
          </a:p>
        </p:txBody>
      </p:sp>
      <p:sp>
        <p:nvSpPr>
          <p:cNvPr id="11" name="s2-source-page">
            <a:extLst xmlns:a="http://schemas.openxmlformats.org/drawingml/2006/main">
              <a:ext uri="{FF2B5EF4-FFF2-40B4-BE49-F238E27FC236}">
                <a16:creationId xmlns:a16="http://schemas.microsoft.com/office/drawing/2014/main" id="{7956E280-D87B-423E-913C-5EFA772B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40639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title">
            <a:extLst xmlns:a="http://schemas.openxmlformats.org/drawingml/2006/main">
              <a:ext uri="{FF2B5EF4-FFF2-40B4-BE49-F238E27FC236}">
                <a16:creationId xmlns:a16="http://schemas.microsoft.com/office/drawing/2014/main" id="{08D06C6E-C0F2-4446-B0BB-B6E9403A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Market duties differ; the control baseline travels</a:t>
            </a:r>
          </a:p>
        </p:txBody>
      </p:sp>
      <p:sp>
        <p:nvSpPr>
          <p:cNvPr id="2" name="s3-title-rule">
            <a:extLst xmlns:a="http://schemas.openxmlformats.org/drawingml/2006/main">
              <a:ext uri="{FF2B5EF4-FFF2-40B4-BE49-F238E27FC236}">
                <a16:creationId xmlns:a16="http://schemas.microsoft.com/office/drawing/2014/main" id="{4893A06C-8060-4131-BCB1-5248CDEE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9620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3-subtitle">
            <a:extLst xmlns:a="http://schemas.openxmlformats.org/drawingml/2006/main">
              <a:ext uri="{FF2B5EF4-FFF2-40B4-BE49-F238E27FC236}">
                <a16:creationId xmlns:a16="http://schemas.microsoft.com/office/drawing/2014/main" id="{90695F53-DAFA-4090-A869-227238D0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81100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Current official signals should change sequencing, ownership, and evidence—not be flattened into one global legal conclusion.</a:t>
            </a:r>
          </a:p>
        </p:txBody>
      </p:sp>
      <p:sp>
        <p:nvSpPr>
          <p:cNvPr id="4" name="s3-source">
            <a:extLst xmlns:a="http://schemas.openxmlformats.org/drawingml/2006/main">
              <a:ext uri="{FF2B5EF4-FFF2-40B4-BE49-F238E27FC236}">
                <a16:creationId xmlns:a16="http://schemas.microsoft.com/office/drawing/2014/main" id="{BCB2258C-4DC7-4F44-B4E8-2848D759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000750"/>
            <a:ext cx="10620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  <a:defRPr sz="713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13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Official sources: Council of the EU + European Commission (EU); BIS + NIST (US); IMDA (Singapore); MSIT (Republic of Korea). Facts checked 14 Jul 2026; implications are analysis.</a:t>
            </a:r>
          </a:p>
        </p:txBody>
      </p:sp>
      <p:sp>
        <p:nvSpPr>
          <p:cNvPr id="5" name="s3-source-page">
            <a:extLst xmlns:a="http://schemas.openxmlformats.org/drawingml/2006/main">
              <a:ext uri="{FF2B5EF4-FFF2-40B4-BE49-F238E27FC236}">
                <a16:creationId xmlns:a16="http://schemas.microsoft.com/office/drawing/2014/main" id="{98F74DEC-5074-4590-83B6-F7BFEC00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393668" y="1952625"/>
          <a:ext xmlns:a="http://schemas.openxmlformats.org/drawingml/2006/main" cx="11404568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3143250"/>
                <a:gridCol w="3476625"/>
                <a:gridCol w="3832193"/>
              </a:tblGrid>
              <a:tr h="4953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MARKET</a:t>
                      </a:r>
                    </a:p>
                  </a:txBody>
                  <a:tcPr marL="76200" marR="76200" marT="76200" marB="76200" anchor="ctr" horzOverflow="clip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VERIFIED SIGNAL</a:t>
                      </a:r>
                    </a:p>
                  </a:txBody>
                  <a:tcPr marL="76200" marR="76200" marT="76200" marB="76200" anchor="ctr" horzOverflow="clip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BUSINESS MEANING</a:t>
                      </a:r>
                    </a:p>
                  </a:txBody>
                  <a:tcPr marL="76200" marR="76200" marT="76200" marB="76200" anchor="ctr" horzOverflow="clip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30-DAY MOVE</a:t>
                      </a:r>
                    </a:p>
                  </a:txBody>
                  <a:tcPr marL="76200" marR="76200" marT="76200" marB="76200" anchor="ctr" horzOverflow="clip">
                    <a:solidFill>
                      <a:srgbClr val="11131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3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EU</a:t>
                      </a:r>
                    </a:p>
                  </a:txBody>
                  <a:tcPr marL="76200" marR="76200" marT="76200" marB="76200" anchor="ctr" horzOverflow="clip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113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Article 50 transparency from 2 Aug 2026; high-risk dates moved later.</a:t>
                      </a:r>
                    </a:p>
                  </a:txBody>
                  <a:tcPr marL="76200" marR="76200" marT="76200" marB="76200" anchor="ctr" horzOverflow="clip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113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Sequence disclosure work now; a delay is not a general pause.</a:t>
                      </a:r>
                    </a:p>
                  </a:txBody>
                  <a:tcPr marL="76200" marR="76200" marT="76200" marB="76200" anchor="ctr" horzOverflow="clip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113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Inventory covered surfaces; test disclosure and output marking.</a:t>
                      </a:r>
                    </a:p>
                  </a:txBody>
                  <a:tcPr marL="76200" marR="76200" marT="76200" marB="76200" anchor="ctr" horzOverflow="clip"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3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</a:t>
                      </a:r>
                    </a:p>
                  </a:txBody>
                  <a:tcPr marL="76200" marR="76200" marT="76200" marB="76200" anchor="ctr" horzOverflow="clip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113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BIS compute licensing guidance; NIST agent standards initiative.</a:t>
                      </a:r>
                    </a:p>
                  </a:txBody>
                  <a:tcPr marL="76200" marR="76200" marT="76200" marB="76200" anchor="ctr" horzOverflow="clip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113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Customer eligibility and agent protocols become product constraints.</a:t>
                      </a:r>
                    </a:p>
                  </a:txBody>
                  <a:tcPr marL="76200" marR="76200" marT="76200" marB="76200" anchor="ctr" horzOverflow="clip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113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Screen ultimate parent and end use; prepare identity + security evidence.</a:t>
                      </a:r>
                    </a:p>
                  </a:txBody>
                  <a:tcPr marL="76200" marR="76200" marT="76200" marB="76200" anchor="ctr" horzOverflow="clip">
                    <a:solidFill>
                      <a:srgbClr val="FAFAF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3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SINGAPORE</a:t>
                      </a:r>
                    </a:p>
                  </a:txBody>
                  <a:tcPr marL="76200" marR="76200" marT="76200" marB="76200" anchor="ctr" horzOverflow="clip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113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Agentic-AI governance framework plus sandbox insights.</a:t>
                      </a:r>
                    </a:p>
                  </a:txBody>
                  <a:tcPr marL="76200" marR="76200" marT="76200" marB="76200" anchor="ctr" horzOverflow="clip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113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Voluntary guidance is an assurance path, not binding law.</a:t>
                      </a:r>
                    </a:p>
                  </a:txBody>
                  <a:tcPr marL="76200" marR="76200" marT="76200" marB="76200" anchor="ctr" horzOverflow="clip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113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Crosswalk controls; select a low-risk sandbox use case.</a:t>
                      </a:r>
                    </a:p>
                  </a:txBody>
                  <a:tcPr marL="76200" marR="76200" marT="76200" marB="76200" anchor="ctr" horzOverflow="clip"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3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KOREA</a:t>
                      </a:r>
                    </a:p>
                  </a:txBody>
                  <a:tcPr marL="76200" marR="76200" marT="76200" marB="76200" anchor="ctr" horzOverflow="clip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113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AI Basic Act and Enforcement Decree in force since 22 Jan 2026.</a:t>
                      </a:r>
                    </a:p>
                  </a:txBody>
                  <a:tcPr marL="76200" marR="76200" marT="76200" marB="76200" anchor="ctr" horzOverflow="clip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113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APAC launch planning needs market-specific classification.</a:t>
                      </a:r>
                    </a:p>
                  </a:txBody>
                  <a:tcPr marL="76200" marR="76200" marT="76200" marB="76200" anchor="ctr" horzOverflow="clip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113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Nominate a Korean-source owner; validate the use-case class.</a:t>
                      </a:r>
                    </a:p>
                  </a:txBody>
                  <a:tcPr marL="76200" marR="76200" marT="76200" marB="76200" anchor="ctr" horzOverflow="clip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7643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title">
            <a:extLst xmlns:a="http://schemas.openxmlformats.org/drawingml/2006/main">
              <a:ext uri="{FF2B5EF4-FFF2-40B4-BE49-F238E27FC236}">
                <a16:creationId xmlns:a16="http://schemas.microsoft.com/office/drawing/2014/main" id="{AB5EEA41-4D9F-41F9-B680-8A318924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Four controls preserve product options</a:t>
            </a:r>
          </a:p>
        </p:txBody>
      </p:sp>
      <p:sp>
        <p:nvSpPr>
          <p:cNvPr id="2" name="s4-title-rule">
            <a:extLst xmlns:a="http://schemas.openxmlformats.org/drawingml/2006/main">
              <a:ext uri="{FF2B5EF4-FFF2-40B4-BE49-F238E27FC236}">
                <a16:creationId xmlns:a16="http://schemas.microsoft.com/office/drawing/2014/main" id="{762AC7D4-9FB3-4F9B-A848-003C0FF9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9620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4-subtitle">
            <a:extLst xmlns:a="http://schemas.openxmlformats.org/drawingml/2006/main">
              <a:ext uri="{FF2B5EF4-FFF2-40B4-BE49-F238E27FC236}">
                <a16:creationId xmlns:a16="http://schemas.microsoft.com/office/drawing/2014/main" id="{4D1ED4D5-B588-4D5D-B0A5-4797B451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71575"/>
            <a:ext cx="1140456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38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38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The shared layer should reduce rework without pretending that one configuration satisfies every law, sector, or market.</a:t>
            </a:r>
          </a:p>
        </p:txBody>
      </p:sp>
      <p:sp>
        <p:nvSpPr>
          <p:cNvPr id="4" name="s4-bar-1">
            <a:extLst xmlns:a="http://schemas.openxmlformats.org/drawingml/2006/main">
              <a:ext uri="{FF2B5EF4-FFF2-40B4-BE49-F238E27FC236}">
                <a16:creationId xmlns:a16="http://schemas.microsoft.com/office/drawing/2014/main" id="{890B42B9-4A29-48F8-BC65-8A5B02B1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97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4-control-1">
            <a:extLst xmlns:a="http://schemas.openxmlformats.org/drawingml/2006/main">
              <a:ext uri="{FF2B5EF4-FFF2-40B4-BE49-F238E27FC236}">
                <a16:creationId xmlns:a16="http://schemas.microsoft.com/office/drawing/2014/main" id="{805CE702-F878-4380-949C-DA1923AB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9775"/>
            <a:ext cx="5143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IDENTITY + AUTHORIZATION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Short-lived credentials, deny-by-default scopes, and tool allowlists protect cloud-remediation agents and developer APIs.</a:t>
            </a:r>
          </a:p>
        </p:txBody>
      </p:sp>
      <p:sp>
        <p:nvSpPr>
          <p:cNvPr id="6" name="s4-bar-2">
            <a:extLst xmlns:a="http://schemas.openxmlformats.org/drawingml/2006/main">
              <a:ext uri="{FF2B5EF4-FFF2-40B4-BE49-F238E27FC236}">
                <a16:creationId xmlns:a16="http://schemas.microsoft.com/office/drawing/2014/main" id="{46C6B60F-72FE-4CA7-BF79-0CD2F244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097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4-control-2">
            <a:extLst xmlns:a="http://schemas.openxmlformats.org/drawingml/2006/main">
              <a:ext uri="{FF2B5EF4-FFF2-40B4-BE49-F238E27FC236}">
                <a16:creationId xmlns:a16="http://schemas.microsoft.com/office/drawing/2014/main" id="{235B74A8-8C61-4A7A-B168-E43BBB8A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9775"/>
            <a:ext cx="5143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 ACTION EVIDENCE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Immutable logs, named decision owners, and rollback proof make assurance usable by security, legal, and enterprise buyers.</a:t>
            </a:r>
          </a:p>
        </p:txBody>
      </p:sp>
      <p:sp>
        <p:nvSpPr>
          <p:cNvPr id="8" name="s4-bar-3">
            <a:extLst xmlns:a="http://schemas.openxmlformats.org/drawingml/2006/main">
              <a:ext uri="{FF2B5EF4-FFF2-40B4-BE49-F238E27FC236}">
                <a16:creationId xmlns:a16="http://schemas.microsoft.com/office/drawing/2014/main" id="{C7574942-EA9F-43D0-BD48-83618E8E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576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4-control-3">
            <a:extLst xmlns:a="http://schemas.openxmlformats.org/drawingml/2006/main">
              <a:ext uri="{FF2B5EF4-FFF2-40B4-BE49-F238E27FC236}">
                <a16:creationId xmlns:a16="http://schemas.microsoft.com/office/drawing/2014/main" id="{2E6E27B0-1344-47EB-B7C1-A904994F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5143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DISCLOSURE + PROVENANCE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First-interaction notices, output marking, and content metadata protect support, gaming, and social product surfaces.</a:t>
            </a:r>
          </a:p>
        </p:txBody>
      </p:sp>
      <p:sp>
        <p:nvSpPr>
          <p:cNvPr id="10" name="s4-bar-4">
            <a:extLst xmlns:a="http://schemas.openxmlformats.org/drawingml/2006/main">
              <a:ext uri="{FF2B5EF4-FFF2-40B4-BE49-F238E27FC236}">
                <a16:creationId xmlns:a16="http://schemas.microsoft.com/office/drawing/2014/main" id="{66065EF2-4E44-449C-828A-A4784471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38576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-control-4">
            <a:extLst xmlns:a="http://schemas.openxmlformats.org/drawingml/2006/main">
              <a:ext uri="{FF2B5EF4-FFF2-40B4-BE49-F238E27FC236}">
                <a16:creationId xmlns:a16="http://schemas.microsoft.com/office/drawing/2014/main" id="{BBF00921-13D4-41D6-A20C-3F025C7D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57625"/>
            <a:ext cx="5143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 HUMAN CONTROL + REDRESS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Approval thresholds, a kill switch, and an appeal path bound autonomy without discarding useful automation.</a:t>
            </a:r>
          </a:p>
        </p:txBody>
      </p:sp>
      <p:sp>
        <p:nvSpPr>
          <p:cNvPr id="12" name="s4-source">
            <a:extLst xmlns:a="http://schemas.openxmlformats.org/drawingml/2006/main">
              <a:ext uri="{FF2B5EF4-FFF2-40B4-BE49-F238E27FC236}">
                <a16:creationId xmlns:a16="http://schemas.microsoft.com/office/drawing/2014/main" id="{A3656723-A390-4D38-97E8-794709A5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000750"/>
            <a:ext cx="10620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  <a:defRPr sz="713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13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Analysis synthesized from the project Business Implications Matrix and scoped policy corpus. External signals: NIST agent standards; EU Article 50; IMDA agentic-AI framework. This control baseline is not a legal conclusion.</a:t>
            </a:r>
          </a:p>
        </p:txBody>
      </p:sp>
      <p:sp>
        <p:nvSpPr>
          <p:cNvPr id="13" name="s4-source-page">
            <a:extLst xmlns:a="http://schemas.openxmlformats.org/drawingml/2006/main">
              <a:ext uri="{FF2B5EF4-FFF2-40B4-BE49-F238E27FC236}">
                <a16:creationId xmlns:a16="http://schemas.microsoft.com/office/drawing/2014/main" id="{1DC1828C-6773-48AB-B5A7-DC0369CA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506678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title">
            <a:extLst xmlns:a="http://schemas.openxmlformats.org/drawingml/2006/main">
              <a:ext uri="{FF2B5EF4-FFF2-40B4-BE49-F238E27FC236}">
                <a16:creationId xmlns:a16="http://schemas.microsoft.com/office/drawing/2014/main" id="{4E9E38B2-0A83-44EE-AD7A-1AA0B167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Thirty days to turn monitoring into decisions</a:t>
            </a:r>
          </a:p>
        </p:txBody>
      </p:sp>
      <p:sp>
        <p:nvSpPr>
          <p:cNvPr id="2" name="s5-title-rule">
            <a:extLst xmlns:a="http://schemas.openxmlformats.org/drawingml/2006/main">
              <a:ext uri="{FF2B5EF4-FFF2-40B4-BE49-F238E27FC236}">
                <a16:creationId xmlns:a16="http://schemas.microsoft.com/office/drawing/2014/main" id="{704432ED-854E-4C3D-856E-9E4C8F54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9620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5-subtitle">
            <a:extLst xmlns:a="http://schemas.openxmlformats.org/drawingml/2006/main">
              <a:ext uri="{FF2B5EF4-FFF2-40B4-BE49-F238E27FC236}">
                <a16:creationId xmlns:a16="http://schemas.microsoft.com/office/drawing/2014/main" id="{6B9FC2C2-D36D-42DB-AF27-C4C728AE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90625"/>
            <a:ext cx="11404568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Run one shared evidence cycle; issue product- and market-specific decisions at the end.</a:t>
            </a:r>
          </a:p>
        </p:txBody>
      </p:sp>
      <p:cxnSp>
        <p:nvCxnSpPr>
          <p:cNvPr id="19" name="s5-timeline-line"/>
          <p:cNvCxnSpPr/>
          <p:nvPr/>
        </p:nvCxnSpPr>
        <p:spPr>
          <a:xfrm xmlns:a="http://schemas.openxmlformats.org/drawingml/2006/main">
            <a:off x="393668" y="3209925"/>
            <a:ext cx="108299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5-dot-1">
            <a:extLst xmlns:a="http://schemas.openxmlformats.org/drawingml/2006/main">
              <a:ext uri="{FF2B5EF4-FFF2-40B4-BE49-F238E27FC236}">
                <a16:creationId xmlns:a16="http://schemas.microsoft.com/office/drawing/2014/main" id="{C341F8A4-BDB1-4E56-B52D-52E41398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33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5-dot-2">
            <a:extLst xmlns:a="http://schemas.openxmlformats.org/drawingml/2006/main">
              <a:ext uri="{FF2B5EF4-FFF2-40B4-BE49-F238E27FC236}">
                <a16:creationId xmlns:a16="http://schemas.microsoft.com/office/drawing/2014/main" id="{74F23FBD-FB08-4615-83ED-8E196C16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3133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5-dot-3">
            <a:extLst xmlns:a="http://schemas.openxmlformats.org/drawingml/2006/main">
              <a:ext uri="{FF2B5EF4-FFF2-40B4-BE49-F238E27FC236}">
                <a16:creationId xmlns:a16="http://schemas.microsoft.com/office/drawing/2014/main" id="{2CF83B26-458A-406A-80B9-D8798A2C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3133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5-label-1">
            <a:extLst xmlns:a="http://schemas.openxmlformats.org/drawingml/2006/main">
              <a:ext uri="{FF2B5EF4-FFF2-40B4-BE49-F238E27FC236}">
                <a16:creationId xmlns:a16="http://schemas.microsoft.com/office/drawing/2014/main" id="{3E9FF026-111C-49BC-B040-6BA050B2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6479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DAYS 0–7</a:t>
            </a:r>
          </a:p>
        </p:txBody>
      </p:sp>
      <p:sp>
        <p:nvSpPr>
          <p:cNvPr id="9" name="s5-label-2">
            <a:extLst xmlns:a="http://schemas.openxmlformats.org/drawingml/2006/main">
              <a:ext uri="{FF2B5EF4-FFF2-40B4-BE49-F238E27FC236}">
                <a16:creationId xmlns:a16="http://schemas.microsoft.com/office/drawing/2014/main" id="{53B5F0F6-C5C6-4116-9F92-E8FAA2AA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6479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DAYS 8–20</a:t>
            </a:r>
          </a:p>
        </p:txBody>
      </p:sp>
      <p:sp>
        <p:nvSpPr>
          <p:cNvPr id="10" name="s5-label-3">
            <a:extLst xmlns:a="http://schemas.openxmlformats.org/drawingml/2006/main">
              <a:ext uri="{FF2B5EF4-FFF2-40B4-BE49-F238E27FC236}">
                <a16:creationId xmlns:a16="http://schemas.microsoft.com/office/drawing/2014/main" id="{59E06804-72D8-47A2-B19A-9E36F5DF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6479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DAYS 21–30</a:t>
            </a:r>
          </a:p>
        </p:txBody>
      </p:sp>
      <p:sp>
        <p:nvSpPr>
          <p:cNvPr id="11" name="s5-body-1">
            <a:extLst xmlns:a="http://schemas.openxmlformats.org/drawingml/2006/main">
              <a:ext uri="{FF2B5EF4-FFF2-40B4-BE49-F238E27FC236}">
                <a16:creationId xmlns:a16="http://schemas.microsoft.com/office/drawing/2014/main" id="{611CADC9-07CA-497F-A18E-0917F959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667125"/>
            <a:ext cx="3156109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Scope &amp; own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• Product-market inventory
• Named legal + policy owners
• Dated re-verification triggers</a:t>
            </a:r>
          </a:p>
        </p:txBody>
      </p:sp>
      <p:sp>
        <p:nvSpPr>
          <p:cNvPr id="12" name="s5-body-2">
            <a:extLst xmlns:a="http://schemas.openxmlformats.org/drawingml/2006/main">
              <a:ext uri="{FF2B5EF4-FFF2-40B4-BE49-F238E27FC236}">
                <a16:creationId xmlns:a16="http://schemas.microsoft.com/office/drawing/2014/main" id="{B18C63F9-2047-4464-A703-BC3FE890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667125"/>
            <a:ext cx="3156109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Test &amp; evidence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• Disclosure + redress UX
• Identity, scopes, logs, rollback
• Export + ownership screen</a:t>
            </a:r>
          </a:p>
        </p:txBody>
      </p:sp>
      <p:sp>
        <p:nvSpPr>
          <p:cNvPr id="13" name="s5-body-3">
            <a:extLst xmlns:a="http://schemas.openxmlformats.org/drawingml/2006/main">
              <a:ext uri="{FF2B5EF4-FFF2-40B4-BE49-F238E27FC236}">
                <a16:creationId xmlns:a16="http://schemas.microsoft.com/office/drawing/2014/main" id="{E8ABEAFF-6D33-4F43-A6BF-3DA746EF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667125"/>
            <a:ext cx="3156109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Decide &amp; engage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• Market launch memo
• Cross-functional evidence review
• Standards or sandbox pack</a:t>
            </a:r>
          </a:p>
        </p:txBody>
      </p:sp>
      <p:sp>
        <p:nvSpPr>
          <p:cNvPr id="14" name="s5-source">
            <a:extLst xmlns:a="http://schemas.openxmlformats.org/drawingml/2006/main">
              <a:ext uri="{FF2B5EF4-FFF2-40B4-BE49-F238E27FC236}">
                <a16:creationId xmlns:a16="http://schemas.microsoft.com/office/drawing/2014/main" id="{F358A2B5-7623-4713-ACA5-44BEB7D5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000750"/>
            <a:ext cx="10620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  <a:defRPr sz="713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13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Operating model synthesized from the project Intelligence Brief and Policy Radar. Monitoring inputs: official NIST, BIS, EU, IMDA, and MSIT sources cited in slides 2–3; reviewed 14 Jul 2026.</a:t>
            </a:r>
          </a:p>
        </p:txBody>
      </p:sp>
      <p:sp>
        <p:nvSpPr>
          <p:cNvPr id="15" name="s5-source-page">
            <a:extLst xmlns:a="http://schemas.openxmlformats.org/drawingml/2006/main">
              <a:ext uri="{FF2B5EF4-FFF2-40B4-BE49-F238E27FC236}">
                <a16:creationId xmlns:a16="http://schemas.microsoft.com/office/drawing/2014/main" id="{3BE0A63B-9569-491E-B46A-C81275E1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777967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title">
            <a:extLst xmlns:a="http://schemas.openxmlformats.org/drawingml/2006/main">
              <a:ext uri="{FF2B5EF4-FFF2-40B4-BE49-F238E27FC236}">
                <a16:creationId xmlns:a16="http://schemas.microsoft.com/office/drawing/2014/main" id="{E1F59AF9-CA95-4205-B95F-74C48733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Approve shared controls. Hold universal launch.</a:t>
            </a:r>
          </a:p>
        </p:txBody>
      </p:sp>
      <p:sp>
        <p:nvSpPr>
          <p:cNvPr id="2" name="s6-title-rule">
            <a:extLst xmlns:a="http://schemas.openxmlformats.org/drawingml/2006/main">
              <a:ext uri="{FF2B5EF4-FFF2-40B4-BE49-F238E27FC236}">
                <a16:creationId xmlns:a16="http://schemas.microsoft.com/office/drawing/2014/main" id="{8F64F4B3-4BA8-4D95-9898-A9457DF0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9620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" name="s6-column-rule"/>
          <p:cNvCxnSpPr/>
          <p:nvPr/>
        </p:nvCxnSpPr>
        <p:spPr>
          <a:xfrm xmlns:a="http://schemas.openxmlformats.org/drawingml/2006/main">
            <a:off x="6096000" y="1743075"/>
            <a:ext cx="286" cy="3238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6-left">
            <a:extLst xmlns:a="http://schemas.openxmlformats.org/drawingml/2006/main">
              <a:ext uri="{FF2B5EF4-FFF2-40B4-BE49-F238E27FC236}">
                <a16:creationId xmlns:a16="http://schemas.microsoft.com/office/drawing/2014/main" id="{0257F549-1E1E-4CEC-964F-D3799CC2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43075"/>
            <a:ext cx="5334000" cy="3286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463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APPROVE NOW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463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Shared control layer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50"/>
              </a:spcAft>
              <a:buNone/>
              <a:defRPr sz="1463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3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Identity, authorization, logs, disclosure, approval gates, testing, and redress.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463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Operating rhythm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63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3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A 30-day review with named owners, dated triggers, and non-confidential evidence for standards or sandbox engagement.</a:t>
            </a:r>
          </a:p>
        </p:txBody>
      </p:sp>
      <p:sp>
        <p:nvSpPr>
          <p:cNvPr id="5" name="s6-right">
            <a:extLst xmlns:a="http://schemas.openxmlformats.org/drawingml/2006/main">
              <a:ext uri="{FF2B5EF4-FFF2-40B4-BE49-F238E27FC236}">
                <a16:creationId xmlns:a16="http://schemas.microsoft.com/office/drawing/2014/main" id="{BF3AD198-1B22-4C76-8F5D-83486587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743075"/>
            <a:ext cx="5334000" cy="3286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463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REQUIRE BEFORE EACH LAUNCH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463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Decision evidence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50"/>
              </a:spcAft>
              <a:buNone/>
              <a:defRPr sz="1463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3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Product facts, current primary law, and proof that the selected controls operate as intended.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463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Market judgment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63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3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Qualified human review and an explicit product-market launch memo. No score or sparse corpus substitutes for that judgment.</a:t>
            </a:r>
          </a:p>
        </p:txBody>
      </p:sp>
      <p:sp>
        <p:nvSpPr>
          <p:cNvPr id="6" name="s6-takeaway-band">
            <a:extLst xmlns:a="http://schemas.openxmlformats.org/drawingml/2006/main">
              <a:ext uri="{FF2B5EF4-FFF2-40B4-BE49-F238E27FC236}">
                <a16:creationId xmlns:a16="http://schemas.microsoft.com/office/drawing/2014/main" id="{67833512-162A-4149-B10A-B83381DB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305425"/>
            <a:ext cx="1140456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7DFF3"/>
            </a:solidFill>
            <a:prstDash val="solid"/>
          </a:ln>
        </p:spPr>
      </p:sp>
      <p:sp>
        <p:nvSpPr>
          <p:cNvPr id="7" name="s6-takeaway">
            <a:extLst xmlns:a="http://schemas.openxmlformats.org/drawingml/2006/main">
              <a:ext uri="{FF2B5EF4-FFF2-40B4-BE49-F238E27FC236}">
                <a16:creationId xmlns:a16="http://schemas.microsoft.com/office/drawing/2014/main" id="{77F612CF-DC64-46B3-9AA6-755AA79E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953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One architecture can preserve options. One legal conclusion cannot travel.</a:t>
            </a:r>
          </a:p>
        </p:txBody>
      </p:sp>
      <p:sp>
        <p:nvSpPr>
          <p:cNvPr id="8" name="s6-source">
            <a:extLst xmlns:a="http://schemas.openxmlformats.org/drawingml/2006/main">
              <a:ext uri="{FF2B5EF4-FFF2-40B4-BE49-F238E27FC236}">
                <a16:creationId xmlns:a16="http://schemas.microsoft.com/office/drawing/2014/main" id="{AF260DE4-4C82-471B-86C7-34991937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000750"/>
            <a:ext cx="10620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  <a:defRPr sz="713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13" b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Recommendation is analytical work product based on the scoped portfolio evidence; it is not legal advice, a launch authorization, or a statement of company policy. Independent work sample; no company affiliation.</a:t>
            </a:r>
          </a:p>
        </p:txBody>
      </p:sp>
      <p:sp>
        <p:nvSpPr>
          <p:cNvPr id="9" name="s6-source-page">
            <a:extLst xmlns:a="http://schemas.openxmlformats.org/drawingml/2006/main">
              <a:ext uri="{FF2B5EF4-FFF2-40B4-BE49-F238E27FC236}">
                <a16:creationId xmlns:a16="http://schemas.microsoft.com/office/drawing/2014/main" id="{DDB8F730-0AB9-4419-A5BE-AE5CBC7C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07906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2026-07-14T14:56:04.7220000Z</dcterms:created>
  <dcterms:modified xsi:type="dcterms:W3CDTF">2026-07-14T14:56:04.7220000Z</dcterms:modified>
</coreProperties>
</file>